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Sloop Script Pro" panose="020B0604020202020204" charset="0"/>
      <p:regular r:id="rId15"/>
    </p:embeddedFont>
    <p:embeddedFont>
      <p:font typeface="Open Sans Bold Italics" panose="020B0604020202020204" charset="0"/>
      <p:regular r:id="rId16"/>
    </p:embeddedFont>
    <p:embeddedFont>
      <p:font typeface="Canva Sans Italics" panose="020B0604020202020204" charset="0"/>
      <p:regular r:id="rId17"/>
    </p:embeddedFont>
    <p:embeddedFont>
      <p:font typeface="Gotham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</p:embeddedFont>
    <p:embeddedFont>
      <p:font typeface="Anton" panose="020B0604020202020204" charset="0"/>
      <p:regular r:id="rId21"/>
    </p:embeddedFont>
    <p:embeddedFont>
      <p:font typeface="Open San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00596" y="3475137"/>
            <a:ext cx="14274744" cy="189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4"/>
              </a:lnSpc>
            </a:pPr>
            <a:r>
              <a:rPr lang="en-US" sz="18779" spc="845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PRÉSENTATION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38371" y="6006891"/>
            <a:ext cx="7611257" cy="127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0"/>
              </a:lnSpc>
            </a:pPr>
            <a:r>
              <a:rPr lang="en-US" sz="12607" spc="163">
                <a:solidFill>
                  <a:srgbClr val="F1EEE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Mini-Projets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72509" y="8955703"/>
            <a:ext cx="5542982" cy="30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3023" spc="136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19-09-2025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3226" y="1181100"/>
            <a:ext cx="5542982" cy="30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3023" spc="136" dirty="0" smtClean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FORMATION JOBINTECH - DATA</a:t>
            </a:r>
            <a:endParaRPr lang="en-US" sz="3023" spc="136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645097" y="7856731"/>
            <a:ext cx="512993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6"/>
              </a:lnSpc>
            </a:pPr>
            <a:r>
              <a:rPr lang="en-US" sz="2458" i="1" dirty="0">
                <a:solidFill>
                  <a:srgbClr val="F1EEE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RÉALISÉ PAR:</a:t>
            </a:r>
          </a:p>
          <a:p>
            <a:pPr algn="ctr">
              <a:lnSpc>
                <a:spcPts val="3196"/>
              </a:lnSpc>
              <a:spcBef>
                <a:spcPct val="0"/>
              </a:spcBef>
            </a:pPr>
            <a:r>
              <a:rPr lang="en-US" sz="2458" b="1" dirty="0">
                <a:solidFill>
                  <a:srgbClr val="F1EEE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MOHAMED FEJJARY</a:t>
            </a:r>
          </a:p>
          <a:p>
            <a:pPr algn="ctr">
              <a:lnSpc>
                <a:spcPts val="3196"/>
              </a:lnSpc>
              <a:spcBef>
                <a:spcPct val="0"/>
              </a:spcBef>
            </a:pPr>
            <a:r>
              <a:rPr lang="en-US" sz="2458" b="1" dirty="0">
                <a:solidFill>
                  <a:srgbClr val="F1EEE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BRAHIM DARGUI</a:t>
            </a:r>
          </a:p>
        </p:txBody>
      </p:sp>
      <p:sp>
        <p:nvSpPr>
          <p:cNvPr id="7" name="Freeform 7"/>
          <p:cNvSpPr/>
          <p:nvPr/>
        </p:nvSpPr>
        <p:spPr>
          <a:xfrm>
            <a:off x="606114" y="531327"/>
            <a:ext cx="3298962" cy="497373"/>
          </a:xfrm>
          <a:custGeom>
            <a:avLst/>
            <a:gdLst/>
            <a:ahLst/>
            <a:cxnLst/>
            <a:rect l="l" t="t" r="r" b="b"/>
            <a:pathLst>
              <a:path w="3298962" h="497373">
                <a:moveTo>
                  <a:pt x="0" y="0"/>
                </a:moveTo>
                <a:lnTo>
                  <a:pt x="3298962" y="0"/>
                </a:lnTo>
                <a:lnTo>
                  <a:pt x="3298962" y="497373"/>
                </a:lnTo>
                <a:lnTo>
                  <a:pt x="0" y="49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8844" y="485286"/>
            <a:ext cx="3604339" cy="543414"/>
          </a:xfrm>
          <a:custGeom>
            <a:avLst/>
            <a:gdLst/>
            <a:ahLst/>
            <a:cxnLst/>
            <a:rect l="l" t="t" r="r" b="b"/>
            <a:pathLst>
              <a:path w="3604339" h="543414">
                <a:moveTo>
                  <a:pt x="0" y="0"/>
                </a:moveTo>
                <a:lnTo>
                  <a:pt x="3604338" y="0"/>
                </a:lnTo>
                <a:lnTo>
                  <a:pt x="3604338" y="543414"/>
                </a:lnTo>
                <a:lnTo>
                  <a:pt x="0" y="543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43182" y="1352006"/>
            <a:ext cx="9801636" cy="130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6"/>
              </a:lnSpc>
              <a:spcBef>
                <a:spcPct val="0"/>
              </a:spcBef>
            </a:pPr>
            <a:r>
              <a:rPr lang="en-US" sz="13100" spc="58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90570" y="5971921"/>
            <a:ext cx="9653096" cy="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4553" lvl="1" indent="-352277" algn="just">
              <a:lnSpc>
                <a:spcPts val="4894"/>
              </a:lnSpc>
              <a:buFont typeface="Arial"/>
              <a:buChar char="•"/>
            </a:pPr>
            <a:r>
              <a:rPr lang="en-US" sz="3263" spc="146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MINI-PROJ</a:t>
            </a:r>
            <a:r>
              <a:rPr lang="en-US" sz="3263" u="none" strike="noStrike" spc="146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ET 3 : SYSTÈME D’INVENTAIRE DU LIBRAIRE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90570" y="4810379"/>
            <a:ext cx="8983488" cy="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4553" lvl="1" indent="-352277" algn="just">
              <a:lnSpc>
                <a:spcPts val="4894"/>
              </a:lnSpc>
              <a:buFont typeface="Arial"/>
              <a:buChar char="•"/>
            </a:pPr>
            <a:r>
              <a:rPr lang="en-US" sz="3263" u="none" strike="noStrike" spc="146" dirty="0" smtClean="0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MINI-PROJET </a:t>
            </a:r>
            <a:r>
              <a:rPr lang="en-US" sz="3263" u="none" strike="noStrike" spc="146" dirty="0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2 :ANALYSE DE FEEDBACK CLIENTS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90570" y="3649287"/>
            <a:ext cx="7353430" cy="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4552" lvl="1" indent="-352276" algn="just">
              <a:lnSpc>
                <a:spcPts val="4894"/>
              </a:lnSpc>
              <a:buFont typeface="Arial"/>
              <a:buChar char="•"/>
            </a:pPr>
            <a:r>
              <a:rPr lang="en-US" sz="3263" spc="146" dirty="0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MINI-PROJET 1 : GÉNÉRATION DE REÇUS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5185" y="7133463"/>
            <a:ext cx="7264200" cy="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4553" lvl="1" indent="-352277" algn="just">
              <a:lnSpc>
                <a:spcPts val="4894"/>
              </a:lnSpc>
              <a:buFont typeface="Arial"/>
              <a:buChar char="•"/>
            </a:pPr>
            <a:r>
              <a:rPr lang="en-US" sz="3263" spc="146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MINI-PROJ</a:t>
            </a:r>
            <a:r>
              <a:rPr lang="en-US" sz="3263" u="none" strike="noStrike" spc="146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ET 4 :ANALYSEUR DE LOGS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0570" y="8295005"/>
            <a:ext cx="9510929" cy="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4553" lvl="1" indent="-352277" algn="just">
              <a:lnSpc>
                <a:spcPts val="4894"/>
              </a:lnSpc>
              <a:buFont typeface="Arial"/>
              <a:buChar char="•"/>
            </a:pPr>
            <a:r>
              <a:rPr lang="en-US" sz="3263" spc="146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MINI-PROJ</a:t>
            </a:r>
            <a:r>
              <a:rPr lang="en-US" sz="3263" u="none" strike="noStrike" spc="146">
                <a:solidFill>
                  <a:srgbClr val="73655C"/>
                </a:solidFill>
                <a:latin typeface="Anton"/>
                <a:ea typeface="Anton"/>
                <a:cs typeface="Anton"/>
                <a:sym typeface="Anton"/>
              </a:rPr>
              <a:t>ET 5 : OUTIL DE BUDGÉTISATION AMÉLIORÉ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401914"/>
            <a:ext cx="16068675" cy="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31745" y="3239989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317258" y="3239989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05817" y="3239989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732450" y="3239989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28409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CONTEXTE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409" y="5344442"/>
            <a:ext cx="3364925" cy="250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Un nouveau café local souhaite mettre en place son premier système de point de vente.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Il a besoin de gérer les commandes, appliquer des réductions et suivre les points de fidélité des clients.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17258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OBJECTIF DU PROJET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7258" y="5312785"/>
            <a:ext cx="4008032" cy="446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Développer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script Python capable de :</a:t>
            </a:r>
          </a:p>
          <a:p>
            <a:pPr marL="380583" lvl="1" indent="-190292" algn="l">
              <a:lnSpc>
                <a:spcPts val="2467"/>
              </a:lnSpc>
              <a:buAutoNum type="arabicPeriod"/>
            </a:pP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Calculer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le sous-total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d’une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commande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80583" lvl="1" indent="-190292" algn="l">
              <a:lnSpc>
                <a:spcPts val="2467"/>
              </a:lnSpc>
              <a:buAutoNum type="arabicPeriod"/>
            </a:pP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Appliquer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des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réductions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fonction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codes </a:t>
            </a:r>
            <a:r>
              <a:rPr lang="en-US" sz="1762" dirty="0" smtClean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promo 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(SAVE10, 5OFF).</a:t>
            </a:r>
          </a:p>
          <a:p>
            <a:pPr marL="380583" lvl="1" indent="-190292" algn="l">
              <a:lnSpc>
                <a:spcPts val="2467"/>
              </a:lnSpc>
              <a:buAutoNum type="arabicPeriod"/>
            </a:pP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Ajouter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taxe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sur le sous-total.</a:t>
            </a:r>
          </a:p>
          <a:p>
            <a:pPr marL="380583" lvl="1" indent="-190292" algn="l">
              <a:lnSpc>
                <a:spcPts val="2467"/>
              </a:lnSpc>
              <a:buAutoNum type="arabicPeriod"/>
            </a:pP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Calculer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les points de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fidélité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(1 point pour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tranche de 5€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dépensés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).</a:t>
            </a:r>
          </a:p>
          <a:p>
            <a:pPr marL="380583" lvl="1" indent="-190292" algn="l">
              <a:lnSpc>
                <a:spcPts val="2467"/>
              </a:lnSpc>
              <a:buAutoNum type="arabicPeriod"/>
            </a:pP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Générer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reçu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clair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</a:t>
            </a:r>
            <a:r>
              <a:rPr lang="en-US" sz="1762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formaté</a:t>
            </a:r>
            <a:r>
              <a:rPr lang="en-US" sz="1762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pour le client.</a:t>
            </a:r>
          </a:p>
          <a:p>
            <a:pPr marL="0" lvl="0" indent="0" algn="l">
              <a:lnSpc>
                <a:spcPts val="2467"/>
              </a:lnSpc>
              <a:spcBef>
                <a:spcPct val="0"/>
              </a:spcBef>
            </a:pPr>
            <a:endParaRPr lang="en-US" sz="1762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05817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MÉTHODOLOGIE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817" y="5353967"/>
            <a:ext cx="4126634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Les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commandes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sont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stockées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sous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forme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liste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dictionnaires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Pour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commande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Calcul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du sous-total (prix *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quantité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).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Vérification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application de la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réduction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si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code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est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fourni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Calcul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la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taxe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du total final.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Calcul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des points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fidélité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reçu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est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affiché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avec :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détail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article,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sous-total, la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réduction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la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taxe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le total,</a:t>
            </a:r>
          </a:p>
          <a:p>
            <a:pPr marL="304176" lvl="1" indent="-152088" algn="l">
              <a:lnSpc>
                <a:spcPts val="1972"/>
              </a:lnSpc>
              <a:spcBef>
                <a:spcPct val="0"/>
              </a:spcBef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nombre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points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fidélité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0" lvl="0" indent="0" algn="l">
              <a:lnSpc>
                <a:spcPts val="1972"/>
              </a:lnSpc>
              <a:spcBef>
                <a:spcPct val="0"/>
              </a:spcBef>
            </a:pPr>
            <a:endParaRPr lang="en-US" sz="1408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94375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RÉSULTATS OBTENUS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4375" y="5344442"/>
            <a:ext cx="3364925" cy="407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script génère un rapport contenant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sous-total de la commande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montant de la réduction appliquée (si un code est utilisé)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montant de la taxe calculée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total final à payer</a:t>
            </a: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nombre de points de fidélité gagnés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710871" y="1295400"/>
            <a:ext cx="12369439" cy="13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☕ PRÉSENTATION DU MINI-PROJET 1 :</a:t>
            </a:r>
          </a:p>
          <a:p>
            <a:pPr algn="ctr">
              <a:lnSpc>
                <a:spcPts val="3366"/>
              </a:lnSpc>
            </a:pPr>
            <a:endParaRPr lang="en-US" sz="5100" spc="22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>
              <a:lnSpc>
                <a:spcPts val="3366"/>
              </a:lnSpc>
              <a:spcBef>
                <a:spcPct val="0"/>
              </a:spcBef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 GÉNÉRATION DE REÇUS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06114" y="531327"/>
            <a:ext cx="3298962" cy="497373"/>
          </a:xfrm>
          <a:custGeom>
            <a:avLst/>
            <a:gdLst/>
            <a:ahLst/>
            <a:cxnLst/>
            <a:rect l="l" t="t" r="r" b="b"/>
            <a:pathLst>
              <a:path w="3298962" h="497373">
                <a:moveTo>
                  <a:pt x="0" y="0"/>
                </a:moveTo>
                <a:lnTo>
                  <a:pt x="3298962" y="0"/>
                </a:lnTo>
                <a:lnTo>
                  <a:pt x="3298962" y="497373"/>
                </a:lnTo>
                <a:lnTo>
                  <a:pt x="0" y="49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4560" y="2203983"/>
            <a:ext cx="10132693" cy="2939517"/>
          </a:xfrm>
          <a:custGeom>
            <a:avLst/>
            <a:gdLst/>
            <a:ahLst/>
            <a:cxnLst/>
            <a:rect l="l" t="t" r="r" b="b"/>
            <a:pathLst>
              <a:path w="10132693" h="2939517">
                <a:moveTo>
                  <a:pt x="0" y="0"/>
                </a:moveTo>
                <a:lnTo>
                  <a:pt x="10132692" y="0"/>
                </a:lnTo>
                <a:lnTo>
                  <a:pt x="10132692" y="2939517"/>
                </a:lnTo>
                <a:lnTo>
                  <a:pt x="0" y="2939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138" t="-81037" b="-6935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119" y="7443798"/>
            <a:ext cx="5323317" cy="1851422"/>
          </a:xfrm>
          <a:custGeom>
            <a:avLst/>
            <a:gdLst/>
            <a:ahLst/>
            <a:cxnLst/>
            <a:rect l="l" t="t" r="r" b="b"/>
            <a:pathLst>
              <a:path w="5323317" h="1851422">
                <a:moveTo>
                  <a:pt x="0" y="0"/>
                </a:moveTo>
                <a:lnTo>
                  <a:pt x="5323317" y="0"/>
                </a:lnTo>
                <a:lnTo>
                  <a:pt x="5323317" y="1851422"/>
                </a:lnTo>
                <a:lnTo>
                  <a:pt x="0" y="1851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327" t="-202506" r="-112593" b="-14051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03646" y="7443798"/>
            <a:ext cx="4619929" cy="1508282"/>
          </a:xfrm>
          <a:custGeom>
            <a:avLst/>
            <a:gdLst/>
            <a:ahLst/>
            <a:cxnLst/>
            <a:rect l="l" t="t" r="r" b="b"/>
            <a:pathLst>
              <a:path w="4619929" h="1508282">
                <a:moveTo>
                  <a:pt x="0" y="0"/>
                </a:moveTo>
                <a:lnTo>
                  <a:pt x="4619929" y="0"/>
                </a:lnTo>
                <a:lnTo>
                  <a:pt x="4619929" y="1508282"/>
                </a:lnTo>
                <a:lnTo>
                  <a:pt x="0" y="150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767" t="-201829" r="-89852" b="-11964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52959" y="7489503"/>
            <a:ext cx="5035041" cy="1805716"/>
          </a:xfrm>
          <a:custGeom>
            <a:avLst/>
            <a:gdLst/>
            <a:ahLst/>
            <a:cxnLst/>
            <a:rect l="l" t="t" r="r" b="b"/>
            <a:pathLst>
              <a:path w="5035041" h="1805716">
                <a:moveTo>
                  <a:pt x="0" y="0"/>
                </a:moveTo>
                <a:lnTo>
                  <a:pt x="5035041" y="0"/>
                </a:lnTo>
                <a:lnTo>
                  <a:pt x="5035041" y="1805717"/>
                </a:lnTo>
                <a:lnTo>
                  <a:pt x="0" y="180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859" t="-131364" r="-74592" b="-12068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81818" y="923925"/>
            <a:ext cx="6797302" cy="922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48"/>
              </a:lnSpc>
            </a:pPr>
            <a:r>
              <a:rPr lang="en-US" sz="5391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Exemple de sortie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6400" y="5429250"/>
            <a:ext cx="6629400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sz="393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Autres</a:t>
            </a:r>
            <a:r>
              <a:rPr lang="en-US" sz="393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93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</a:t>
            </a:r>
            <a:r>
              <a:rPr lang="en-US" sz="393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93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possibles</a:t>
            </a:r>
            <a:r>
              <a:rPr lang="en-US" sz="393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119" y="6734405"/>
            <a:ext cx="5280504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364" lvl="1" indent="-253682">
              <a:lnSpc>
                <a:spcPts val="3054"/>
              </a:lnSpc>
              <a:spcBef>
                <a:spcPct val="0"/>
              </a:spcBef>
              <a:buFont typeface="Arial"/>
              <a:buChar char="•"/>
            </a:pPr>
            <a:r>
              <a:rPr lang="en-US" sz="234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SANS CODE DE RÉDUCTION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40096" y="6734405"/>
            <a:ext cx="5280504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364" lvl="1" indent="-253682">
              <a:lnSpc>
                <a:spcPts val="3054"/>
              </a:lnSpc>
              <a:spcBef>
                <a:spcPct val="0"/>
              </a:spcBef>
              <a:buFont typeface="Arial"/>
              <a:buChar char="•"/>
            </a:pPr>
            <a:r>
              <a:rPr lang="en-US" sz="234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AVEC CODE 5OFF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2959" y="6734405"/>
            <a:ext cx="5280504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364" lvl="1" indent="-253682">
              <a:lnSpc>
                <a:spcPts val="3054"/>
              </a:lnSpc>
              <a:spcBef>
                <a:spcPct val="0"/>
              </a:spcBef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AVEC CODE INCONNU :</a:t>
            </a:r>
          </a:p>
        </p:txBody>
      </p:sp>
      <p:sp>
        <p:nvSpPr>
          <p:cNvPr id="11" name="Freeform 11"/>
          <p:cNvSpPr/>
          <p:nvPr/>
        </p:nvSpPr>
        <p:spPr>
          <a:xfrm>
            <a:off x="667778" y="485286"/>
            <a:ext cx="3604339" cy="543414"/>
          </a:xfrm>
          <a:custGeom>
            <a:avLst/>
            <a:gdLst/>
            <a:ahLst/>
            <a:cxnLst/>
            <a:rect l="l" t="t" r="r" b="b"/>
            <a:pathLst>
              <a:path w="3604339" h="543414">
                <a:moveTo>
                  <a:pt x="0" y="0"/>
                </a:moveTo>
                <a:lnTo>
                  <a:pt x="3604339" y="0"/>
                </a:lnTo>
                <a:lnTo>
                  <a:pt x="3604339" y="543414"/>
                </a:lnTo>
                <a:lnTo>
                  <a:pt x="0" y="5434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401914"/>
            <a:ext cx="16068675" cy="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31745" y="3239989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317258" y="3239989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05817" y="3239989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732450" y="3239989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CONTEXTE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409" y="5344442"/>
            <a:ext cx="3364925" cy="313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Les retours clients sont une source précieuse d’informations pour les entreprises.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Cependant, ils peuvent être positifs, négatifs, neutres ou même mixtes, et doivent être analysés pour mieux comprendre la satisfaction et les attentes.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17258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OBJECTIF DU PROJET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6967" y="5344442"/>
            <a:ext cx="3827033" cy="439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Développer un analyseur de sentiment en Python qui :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Calcule un score basé sur des mots-clés positifs et négatifs.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Classe chaque commentaire en quatre catégories : Positif, Négatif, Mixte ou Neutre.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Identifie et affiche les mots-clés déclencheurs trouvés dans chaque retour.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Génère un rapport détaillé pour une meilleure interprétation.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05817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MÉTHODOLOGIE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87216" y="5353967"/>
            <a:ext cx="4407159" cy="3929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Les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commentaires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sont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parcourus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par un.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Pour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commentaire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+1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est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ajouté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au score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si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mot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positif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est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détecté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–1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est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soustrait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si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mot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négatif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est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trouvé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score final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détermine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catégorie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Positif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 score &gt; 0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Négatif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 score &lt; 0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Mixte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 score = 0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mais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contient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à la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fois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positif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négatif</a:t>
            </a:r>
            <a:endParaRPr lang="en-US" sz="1408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Neutre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 score = 0 sans mots-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clés</a:t>
            </a:r>
            <a:endParaRPr lang="en-US" sz="1408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04176" lvl="1" indent="-152088" algn="l">
              <a:lnSpc>
                <a:spcPts val="1972"/>
              </a:lnSpc>
              <a:spcBef>
                <a:spcPct val="0"/>
              </a:spcBef>
              <a:buFont typeface="Arial"/>
              <a:buChar char="•"/>
            </a:pP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Les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résultats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sont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stockés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dans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une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liste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dictionnaires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contenant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commentaire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score,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catégorie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mots-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clés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trouvés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0" lvl="0" indent="0" algn="l">
              <a:lnSpc>
                <a:spcPts val="1972"/>
              </a:lnSpc>
              <a:spcBef>
                <a:spcPct val="0"/>
              </a:spcBef>
            </a:pPr>
            <a:endParaRPr lang="en-US" sz="1408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94375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RÉSULTATS OBTENUS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08675" y="5344442"/>
            <a:ext cx="3364925" cy="344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script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génère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un rapport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contenant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sentiment de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commentaire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(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Positif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Négatif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Mixte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Neutre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)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score de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commentaire</a:t>
            </a:r>
            <a:endParaRPr lang="en-US" sz="1800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les mots-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clés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trouvés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dans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commentaire</a:t>
            </a:r>
            <a:endParaRPr lang="en-US" sz="1800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711162" y="1401226"/>
            <a:ext cx="12369439" cy="13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📝 PRÉSENTATION DU MINI-PROJET 2 :</a:t>
            </a:r>
          </a:p>
          <a:p>
            <a:pPr algn="ctr">
              <a:lnSpc>
                <a:spcPts val="3366"/>
              </a:lnSpc>
            </a:pPr>
            <a:endParaRPr lang="en-US" sz="5100" spc="22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>
              <a:lnSpc>
                <a:spcPts val="3366"/>
              </a:lnSpc>
              <a:spcBef>
                <a:spcPct val="0"/>
              </a:spcBef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 ANALYSE DE FEEDBACK CLIENTS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06114" y="531327"/>
            <a:ext cx="3298962" cy="497373"/>
          </a:xfrm>
          <a:custGeom>
            <a:avLst/>
            <a:gdLst/>
            <a:ahLst/>
            <a:cxnLst/>
            <a:rect l="l" t="t" r="r" b="b"/>
            <a:pathLst>
              <a:path w="3298962" h="497373">
                <a:moveTo>
                  <a:pt x="0" y="0"/>
                </a:moveTo>
                <a:lnTo>
                  <a:pt x="3298962" y="0"/>
                </a:lnTo>
                <a:lnTo>
                  <a:pt x="3298962" y="497373"/>
                </a:lnTo>
                <a:lnTo>
                  <a:pt x="0" y="49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14445" y="3681645"/>
            <a:ext cx="11059110" cy="4450657"/>
          </a:xfrm>
          <a:custGeom>
            <a:avLst/>
            <a:gdLst/>
            <a:ahLst/>
            <a:cxnLst/>
            <a:rect l="l" t="t" r="r" b="b"/>
            <a:pathLst>
              <a:path w="11059110" h="4450657">
                <a:moveTo>
                  <a:pt x="0" y="0"/>
                </a:moveTo>
                <a:lnTo>
                  <a:pt x="11059110" y="0"/>
                </a:lnTo>
                <a:lnTo>
                  <a:pt x="11059110" y="4450657"/>
                </a:lnTo>
                <a:lnTo>
                  <a:pt x="0" y="445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082" t="-85894" r="-28718" b="-4444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21352" y="2076434"/>
            <a:ext cx="8187792" cy="109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2"/>
              </a:lnSpc>
            </a:pPr>
            <a:r>
              <a:rPr lang="en-US" sz="6494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Exemple de sortie :</a:t>
            </a:r>
          </a:p>
        </p:txBody>
      </p:sp>
      <p:sp>
        <p:nvSpPr>
          <p:cNvPr id="4" name="Freeform 4"/>
          <p:cNvSpPr/>
          <p:nvPr/>
        </p:nvSpPr>
        <p:spPr>
          <a:xfrm>
            <a:off x="667778" y="485286"/>
            <a:ext cx="3604339" cy="543414"/>
          </a:xfrm>
          <a:custGeom>
            <a:avLst/>
            <a:gdLst/>
            <a:ahLst/>
            <a:cxnLst/>
            <a:rect l="l" t="t" r="r" b="b"/>
            <a:pathLst>
              <a:path w="3604339" h="543414">
                <a:moveTo>
                  <a:pt x="0" y="0"/>
                </a:moveTo>
                <a:lnTo>
                  <a:pt x="3604339" y="0"/>
                </a:lnTo>
                <a:lnTo>
                  <a:pt x="3604339" y="543414"/>
                </a:lnTo>
                <a:lnTo>
                  <a:pt x="0" y="543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401914"/>
            <a:ext cx="16068675" cy="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31745" y="3239989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317258" y="3239989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05817" y="3239989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732450" y="3239989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CONTEXTE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409" y="5344442"/>
            <a:ext cx="3772191" cy="256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prototype initial de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l’inventaire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était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limité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Il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plantait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cas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d’entrée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invalide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Il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manquait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fonctions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comme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la suppression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ou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recherche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0" lvl="0" indent="0" algn="l">
              <a:lnSpc>
                <a:spcPts val="2520"/>
              </a:lnSpc>
            </a:pPr>
            <a:endParaRPr lang="en-US" sz="1800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17258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OBJECTIF DU PROJET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6967" y="5344442"/>
            <a:ext cx="4008325" cy="3228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Améliorer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l’outil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pour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qu’il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soit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Plus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robuste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grâce à la validation des entrées.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Plus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complet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avec de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nouvelles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fonctionnalités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(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ajout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suppression,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recherche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stock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faible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).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Plus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lisible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avec un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affichage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clair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et </a:t>
            </a:r>
            <a:r>
              <a:rPr lang="en-US" sz="1800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aligné</a:t>
            </a:r>
            <a:r>
              <a:rPr lang="en-US" sz="1800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05817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MÉTHODOLOGIE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9683" y="5353966"/>
            <a:ext cx="4362767" cy="2075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Utilisation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boucles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pour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contrôler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les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saisies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(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quantité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numérique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).</a:t>
            </a:r>
          </a:p>
          <a:p>
            <a:pPr marL="304176" lvl="1" indent="-152088" algn="l">
              <a:lnSpc>
                <a:spcPts val="1972"/>
              </a:lnSpc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Création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fonctions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séparées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: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ajouter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mettre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à jour,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supprimer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rechercher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voir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stock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faible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04176" lvl="1" indent="-152088" algn="l">
              <a:lnSpc>
                <a:spcPts val="1972"/>
              </a:lnSpc>
              <a:spcBef>
                <a:spcPct val="0"/>
              </a:spcBef>
              <a:buFont typeface="Arial"/>
              <a:buChar char="•"/>
            </a:pP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Amélioration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l’affichage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avec f-strings </a:t>
            </a:r>
            <a:r>
              <a:rPr lang="en-US" sz="1408" dirty="0" err="1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alignés</a:t>
            </a:r>
            <a:r>
              <a:rPr lang="en-US" sz="1408" dirty="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0" lvl="0" indent="0" algn="l">
              <a:lnSpc>
                <a:spcPts val="1972"/>
              </a:lnSpc>
              <a:spcBef>
                <a:spcPct val="0"/>
              </a:spcBef>
            </a:pPr>
            <a:endParaRPr lang="en-US" sz="1408" dirty="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94375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RÉSULTATS OBTENUS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4375" y="5344442"/>
            <a:ext cx="3364925" cy="439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programme permet désormais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D’ajouter et mettre à jour correctement les articles.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De rechercher ou supprimer un article sans erreur.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De lister uniquement les articles avec un stock faible.</a:t>
            </a: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D’afficher l’inventaire sous forme de tableau clair et structuré.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997113" y="1401226"/>
            <a:ext cx="12293775" cy="13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📝 PRÉSENTATION DU MINI-PROJET 3 :</a:t>
            </a:r>
          </a:p>
          <a:p>
            <a:pPr algn="ctr">
              <a:lnSpc>
                <a:spcPts val="3366"/>
              </a:lnSpc>
            </a:pPr>
            <a:endParaRPr lang="en-US" sz="5100" spc="22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>
              <a:lnSpc>
                <a:spcPts val="3366"/>
              </a:lnSpc>
              <a:spcBef>
                <a:spcPct val="0"/>
              </a:spcBef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SYSTÈME D’INVENTAIRE DU LIBRAIRE</a:t>
            </a:r>
          </a:p>
        </p:txBody>
      </p:sp>
      <p:sp>
        <p:nvSpPr>
          <p:cNvPr id="20" name="Freeform 20"/>
          <p:cNvSpPr/>
          <p:nvPr/>
        </p:nvSpPr>
        <p:spPr>
          <a:xfrm>
            <a:off x="606114" y="531327"/>
            <a:ext cx="3298962" cy="497373"/>
          </a:xfrm>
          <a:custGeom>
            <a:avLst/>
            <a:gdLst/>
            <a:ahLst/>
            <a:cxnLst/>
            <a:rect l="l" t="t" r="r" b="b"/>
            <a:pathLst>
              <a:path w="3298962" h="497373">
                <a:moveTo>
                  <a:pt x="0" y="0"/>
                </a:moveTo>
                <a:lnTo>
                  <a:pt x="3298962" y="0"/>
                </a:lnTo>
                <a:lnTo>
                  <a:pt x="3298962" y="497373"/>
                </a:lnTo>
                <a:lnTo>
                  <a:pt x="0" y="49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01625" y="3257013"/>
            <a:ext cx="8138513" cy="4874845"/>
          </a:xfrm>
          <a:custGeom>
            <a:avLst/>
            <a:gdLst/>
            <a:ahLst/>
            <a:cxnLst/>
            <a:rect l="l" t="t" r="r" b="b"/>
            <a:pathLst>
              <a:path w="8138513" h="4874845">
                <a:moveTo>
                  <a:pt x="0" y="0"/>
                </a:moveTo>
                <a:lnTo>
                  <a:pt x="8138513" y="0"/>
                </a:lnTo>
                <a:lnTo>
                  <a:pt x="8138513" y="4874846"/>
                </a:lnTo>
                <a:lnTo>
                  <a:pt x="0" y="4874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7778" y="3257013"/>
            <a:ext cx="7767881" cy="4788420"/>
          </a:xfrm>
          <a:custGeom>
            <a:avLst/>
            <a:gdLst/>
            <a:ahLst/>
            <a:cxnLst/>
            <a:rect l="l" t="t" r="r" b="b"/>
            <a:pathLst>
              <a:path w="7767881" h="4788420">
                <a:moveTo>
                  <a:pt x="0" y="0"/>
                </a:moveTo>
                <a:lnTo>
                  <a:pt x="7767881" y="0"/>
                </a:lnTo>
                <a:lnTo>
                  <a:pt x="7767881" y="4788420"/>
                </a:lnTo>
                <a:lnTo>
                  <a:pt x="0" y="4788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879873" y="2134394"/>
            <a:ext cx="3891008" cy="5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086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Exemple de sortie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61991"/>
            <a:ext cx="4492964" cy="597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9"/>
              </a:lnSpc>
            </a:pPr>
            <a:r>
              <a:rPr lang="en-US" sz="3563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Exemple d’entrée :</a:t>
            </a:r>
          </a:p>
        </p:txBody>
      </p:sp>
      <p:sp>
        <p:nvSpPr>
          <p:cNvPr id="6" name="Freeform 6"/>
          <p:cNvSpPr/>
          <p:nvPr/>
        </p:nvSpPr>
        <p:spPr>
          <a:xfrm>
            <a:off x="667778" y="485286"/>
            <a:ext cx="3604339" cy="543414"/>
          </a:xfrm>
          <a:custGeom>
            <a:avLst/>
            <a:gdLst/>
            <a:ahLst/>
            <a:cxnLst/>
            <a:rect l="l" t="t" r="r" b="b"/>
            <a:pathLst>
              <a:path w="3604339" h="543414">
                <a:moveTo>
                  <a:pt x="0" y="0"/>
                </a:moveTo>
                <a:lnTo>
                  <a:pt x="3604339" y="0"/>
                </a:lnTo>
                <a:lnTo>
                  <a:pt x="3604339" y="543414"/>
                </a:lnTo>
                <a:lnTo>
                  <a:pt x="0" y="543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401914"/>
            <a:ext cx="16068675" cy="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31745" y="3239989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317258" y="3239989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05817" y="3239989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732450" y="3239989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CONTEXTE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409" y="5344442"/>
            <a:ext cx="3364925" cy="250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Les fichiers de logs enregistrent l’historique des événements d’un système.</a:t>
            </a:r>
          </a:p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 Ils permettent de suivre l’activité, de détecter des erreurs et d’analyser les performances.</a:t>
            </a:r>
          </a:p>
          <a:p>
            <a:pPr marL="0" lvl="0" indent="0" algn="l">
              <a:lnSpc>
                <a:spcPts val="2520"/>
              </a:lnSpc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17258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OBJECTIF DU PROJET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6967" y="5344442"/>
            <a:ext cx="3827033" cy="313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Développer un script Python capable de :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Compter les événements par niveau (INFO, WARNING, ERROR).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Compter le nombre d’événements par heure.</a:t>
            </a:r>
          </a:p>
          <a:p>
            <a:pPr marL="388622" lvl="1" indent="-194311" algn="l">
              <a:lnSpc>
                <a:spcPts val="2520"/>
              </a:lnSpc>
              <a:buAutoNum type="arabicPeriod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Identifier les messages d’erreur uniques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05817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MÉTHODOLOGIE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671" y="5344442"/>
            <a:ext cx="3715156" cy="344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Chaque ligne est analysée pour extraire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l’horodatage,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niveau,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message.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Structures utilisées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dictionnaire pour les comptes par niveau et par heure,</a:t>
            </a: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set pour les erreurs uniques.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894375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RÉSULTATS OBTENUS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4375" y="5344442"/>
            <a:ext cx="3364925" cy="282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script génère un rapport contenant :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nombre d’événements par niveau,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le nombre d’événements par heure,</a:t>
            </a: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la liste des messages d’erreur uniques.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455090" y="1586438"/>
            <a:ext cx="12454185" cy="13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📊 PRÉSENTATION DU MINI-PROJET 4 :</a:t>
            </a:r>
          </a:p>
          <a:p>
            <a:pPr algn="ctr">
              <a:lnSpc>
                <a:spcPts val="3366"/>
              </a:lnSpc>
            </a:pPr>
            <a:endParaRPr lang="en-US" sz="5100" spc="22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>
              <a:lnSpc>
                <a:spcPts val="3366"/>
              </a:lnSpc>
              <a:spcBef>
                <a:spcPct val="0"/>
              </a:spcBef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 ANALYSEUR DE LOGS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06114" y="531327"/>
            <a:ext cx="3298962" cy="497373"/>
          </a:xfrm>
          <a:custGeom>
            <a:avLst/>
            <a:gdLst/>
            <a:ahLst/>
            <a:cxnLst/>
            <a:rect l="l" t="t" r="r" b="b"/>
            <a:pathLst>
              <a:path w="3298962" h="497373">
                <a:moveTo>
                  <a:pt x="0" y="0"/>
                </a:moveTo>
                <a:lnTo>
                  <a:pt x="3298962" y="0"/>
                </a:lnTo>
                <a:lnTo>
                  <a:pt x="3298962" y="497373"/>
                </a:lnTo>
                <a:lnTo>
                  <a:pt x="0" y="49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84314" y="4402461"/>
            <a:ext cx="13919373" cy="2985617"/>
          </a:xfrm>
          <a:custGeom>
            <a:avLst/>
            <a:gdLst/>
            <a:ahLst/>
            <a:cxnLst/>
            <a:rect l="l" t="t" r="r" b="b"/>
            <a:pathLst>
              <a:path w="13919373" h="2985617">
                <a:moveTo>
                  <a:pt x="0" y="0"/>
                </a:moveTo>
                <a:lnTo>
                  <a:pt x="13919372" y="0"/>
                </a:lnTo>
                <a:lnTo>
                  <a:pt x="13919372" y="2985618"/>
                </a:lnTo>
                <a:lnTo>
                  <a:pt x="0" y="2985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753" t="-134775" r="-5442" b="-10403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21352" y="2076434"/>
            <a:ext cx="8187792" cy="109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2"/>
              </a:lnSpc>
            </a:pPr>
            <a:r>
              <a:rPr lang="en-US" sz="6494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Exemple de sortie :</a:t>
            </a:r>
          </a:p>
        </p:txBody>
      </p:sp>
      <p:sp>
        <p:nvSpPr>
          <p:cNvPr id="4" name="Freeform 4"/>
          <p:cNvSpPr/>
          <p:nvPr/>
        </p:nvSpPr>
        <p:spPr>
          <a:xfrm>
            <a:off x="667778" y="485286"/>
            <a:ext cx="3604339" cy="543414"/>
          </a:xfrm>
          <a:custGeom>
            <a:avLst/>
            <a:gdLst/>
            <a:ahLst/>
            <a:cxnLst/>
            <a:rect l="l" t="t" r="r" b="b"/>
            <a:pathLst>
              <a:path w="3604339" h="543414">
                <a:moveTo>
                  <a:pt x="0" y="0"/>
                </a:moveTo>
                <a:lnTo>
                  <a:pt x="3604339" y="0"/>
                </a:lnTo>
                <a:lnTo>
                  <a:pt x="3604339" y="543414"/>
                </a:lnTo>
                <a:lnTo>
                  <a:pt x="0" y="543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401914"/>
            <a:ext cx="16068675" cy="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31745" y="3239989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317258" y="3239989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05817" y="3239989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3732450" y="3239989"/>
            <a:ext cx="323850" cy="32385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1EEE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28700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CONTEXTE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409" y="5344442"/>
            <a:ext cx="3364925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L’outil de suivi financier existant est fonctionnel mais trop basique : il saisit des transactions sans possibilité de les lister, filtrer ni d’obtenir des analyses détaillées par catégorie.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17258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OBJECTIF DU PROJET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16967" y="5344442"/>
            <a:ext cx="3827033" cy="376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Permettre la visualisation de toutes les transactions.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Filtrer les transactions par catégorie.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Ajouter une validation robuste des saisies (type, montant).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Fournir un rapport de synthèse incluant le pourcentage de dépenses par catégorie.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05817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MÉTHODOLOGIE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817" y="5344442"/>
            <a:ext cx="3715156" cy="407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Nous avons utilisé une liste de dictionnaires pour stocker les transactions, ajouté des fonctions modulaires (ajouter_transaction, voir_toutes_transactions, voir_par_categorie, calculer_resume). Une validation stricte des entrées (type, montant) a été mise en place. Enfin, un rapport détaillé affiche les totaux et le pourcentage des dépenses par catégorie.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94375" y="4527122"/>
            <a:ext cx="3364925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🔹 RÉSULTATS OBTENUS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4375" y="5344442"/>
            <a:ext cx="3718026" cy="344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1EEEB"/>
                </a:solidFill>
                <a:latin typeface="Gotham"/>
                <a:ea typeface="Gotham"/>
                <a:cs typeface="Gotham"/>
                <a:sym typeface="Gotham"/>
              </a:rPr>
              <a:t>L’application affiche désormais toutes les transactions avec un format clair, permet de filtrer par catégorie, et produit un rapport détaillé : revenu total, dépenses totales, épargne nette et répartition des dépenses en pourcentage.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F1EEE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711162" y="1612928"/>
            <a:ext cx="12454185" cy="178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📝 PRÉSENTATION DU MINI-PROJET 5 : OUTIL</a:t>
            </a:r>
          </a:p>
          <a:p>
            <a:pPr algn="ctr">
              <a:lnSpc>
                <a:spcPts val="3366"/>
              </a:lnSpc>
            </a:pPr>
            <a:endParaRPr lang="en-US" sz="5100" spc="22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algn="ctr">
              <a:lnSpc>
                <a:spcPts val="3366"/>
              </a:lnSpc>
            </a:pPr>
            <a:r>
              <a:rPr lang="en-US" sz="5100" spc="22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 DE BUDGÉTISATION AMÉLIORÉ</a:t>
            </a:r>
          </a:p>
          <a:p>
            <a:pPr marL="0" lvl="0" indent="0" algn="ctr">
              <a:lnSpc>
                <a:spcPts val="3366"/>
              </a:lnSpc>
              <a:spcBef>
                <a:spcPct val="0"/>
              </a:spcBef>
            </a:pPr>
            <a:endParaRPr lang="en-US" sz="5100" spc="22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606114" y="531327"/>
            <a:ext cx="3298962" cy="497373"/>
          </a:xfrm>
          <a:custGeom>
            <a:avLst/>
            <a:gdLst/>
            <a:ahLst/>
            <a:cxnLst/>
            <a:rect l="l" t="t" r="r" b="b"/>
            <a:pathLst>
              <a:path w="3298962" h="497373">
                <a:moveTo>
                  <a:pt x="0" y="0"/>
                </a:moveTo>
                <a:lnTo>
                  <a:pt x="3298962" y="0"/>
                </a:lnTo>
                <a:lnTo>
                  <a:pt x="3298962" y="497373"/>
                </a:lnTo>
                <a:lnTo>
                  <a:pt x="0" y="49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88921" y="2401672"/>
            <a:ext cx="11710158" cy="3381308"/>
          </a:xfrm>
          <a:custGeom>
            <a:avLst/>
            <a:gdLst/>
            <a:ahLst/>
            <a:cxnLst/>
            <a:rect l="l" t="t" r="r" b="b"/>
            <a:pathLst>
              <a:path w="11710158" h="3381308">
                <a:moveTo>
                  <a:pt x="0" y="0"/>
                </a:moveTo>
                <a:lnTo>
                  <a:pt x="11710158" y="0"/>
                </a:lnTo>
                <a:lnTo>
                  <a:pt x="11710158" y="3381308"/>
                </a:lnTo>
                <a:lnTo>
                  <a:pt x="0" y="338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40508" y="6263524"/>
            <a:ext cx="3949481" cy="3430998"/>
          </a:xfrm>
          <a:custGeom>
            <a:avLst/>
            <a:gdLst/>
            <a:ahLst/>
            <a:cxnLst/>
            <a:rect l="l" t="t" r="r" b="b"/>
            <a:pathLst>
              <a:path w="3949481" h="3430998">
                <a:moveTo>
                  <a:pt x="0" y="0"/>
                </a:moveTo>
                <a:lnTo>
                  <a:pt x="3949481" y="0"/>
                </a:lnTo>
                <a:lnTo>
                  <a:pt x="3949481" y="3430999"/>
                </a:lnTo>
                <a:lnTo>
                  <a:pt x="0" y="343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64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45043" y="716498"/>
            <a:ext cx="7140411" cy="973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9"/>
              </a:lnSpc>
            </a:pPr>
            <a:r>
              <a:rPr lang="en-US" sz="5663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Exemple de sortie :</a:t>
            </a:r>
          </a:p>
        </p:txBody>
      </p:sp>
      <p:sp>
        <p:nvSpPr>
          <p:cNvPr id="5" name="Freeform 5"/>
          <p:cNvSpPr/>
          <p:nvPr/>
        </p:nvSpPr>
        <p:spPr>
          <a:xfrm>
            <a:off x="667778" y="485286"/>
            <a:ext cx="3604339" cy="543414"/>
          </a:xfrm>
          <a:custGeom>
            <a:avLst/>
            <a:gdLst/>
            <a:ahLst/>
            <a:cxnLst/>
            <a:rect l="l" t="t" r="r" b="b"/>
            <a:pathLst>
              <a:path w="3604339" h="543414">
                <a:moveTo>
                  <a:pt x="0" y="0"/>
                </a:moveTo>
                <a:lnTo>
                  <a:pt x="3604339" y="0"/>
                </a:lnTo>
                <a:lnTo>
                  <a:pt x="3604339" y="543414"/>
                </a:lnTo>
                <a:lnTo>
                  <a:pt x="0" y="543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6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2054" y="1635258"/>
            <a:ext cx="5800155" cy="877273"/>
          </a:xfrm>
          <a:custGeom>
            <a:avLst/>
            <a:gdLst/>
            <a:ahLst/>
            <a:cxnLst/>
            <a:rect l="l" t="t" r="r" b="b"/>
            <a:pathLst>
              <a:path w="5800155" h="877273">
                <a:moveTo>
                  <a:pt x="0" y="0"/>
                </a:moveTo>
                <a:lnTo>
                  <a:pt x="5800155" y="0"/>
                </a:lnTo>
                <a:lnTo>
                  <a:pt x="5800155" y="877273"/>
                </a:lnTo>
                <a:lnTo>
                  <a:pt x="0" y="877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35825" y="5420389"/>
            <a:ext cx="11616350" cy="116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61"/>
              </a:lnSpc>
            </a:pPr>
            <a:r>
              <a:rPr lang="en-US" sz="9108" u="none" strike="noStrike" spc="409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POUR VOTRE ATTENTION 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29703" y="4270358"/>
            <a:ext cx="8828594" cy="1124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4"/>
              </a:lnSpc>
            </a:pPr>
            <a:r>
              <a:rPr lang="en-US" sz="11157" spc="145">
                <a:solidFill>
                  <a:srgbClr val="F1EEEB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Un grand merci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276062" y="7952280"/>
            <a:ext cx="11523175" cy="481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196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F1EEEB"/>
                </a:solidFill>
                <a:latin typeface="+mj-lt"/>
                <a:ea typeface="Canva Sans Italics"/>
                <a:cs typeface="Canva Sans Italics"/>
                <a:sym typeface="Canva Sans Italics"/>
              </a:rPr>
              <a:t>• MOHAMED FEJJARY 			• </a:t>
            </a:r>
            <a:r>
              <a:rPr lang="en-US" sz="2400" b="1" dirty="0" smtClean="0">
                <a:solidFill>
                  <a:srgbClr val="F1EEEB"/>
                </a:solidFill>
                <a:ea typeface="Canva Sans Italics"/>
                <a:cs typeface="Canva Sans Italics"/>
                <a:sym typeface="Canva Sans Italics"/>
              </a:rPr>
              <a:t>BRAHIM DARGUI</a:t>
            </a:r>
            <a:endParaRPr lang="en-US" sz="2400" b="1" dirty="0">
              <a:solidFill>
                <a:srgbClr val="F1EEEB"/>
              </a:solidFill>
              <a:ea typeface="Canva Sans Italics"/>
              <a:cs typeface="Canva Sans Italics"/>
              <a:sym typeface="Canva Sans Itali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194310" y="73533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>
                <a:solidFill>
                  <a:srgbClr val="F1EEE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RÉALISÉ PAR</a:t>
            </a:r>
            <a:r>
              <a:rPr lang="en-US" i="1" u="sng" dirty="0" smtClean="0">
                <a:solidFill>
                  <a:srgbClr val="F1EEE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:</a:t>
            </a:r>
            <a:endParaRPr lang="en-US" i="1" u="sng" dirty="0">
              <a:solidFill>
                <a:srgbClr val="F1EEEB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1075</Words>
  <Application>Microsoft Office PowerPoint</Application>
  <PresentationFormat>Personnalisé</PresentationFormat>
  <Paragraphs>146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Sloop Script Pro</vt:lpstr>
      <vt:lpstr>Open Sans Bold Italics</vt:lpstr>
      <vt:lpstr>Canva Sans Italics</vt:lpstr>
      <vt:lpstr>Arial</vt:lpstr>
      <vt:lpstr>Gotham</vt:lpstr>
      <vt:lpstr>Calibri</vt:lpstr>
      <vt:lpstr>Anton</vt:lpstr>
      <vt:lpstr>Open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Marron Minimaliste Rapport de Stage Présentation</dc:title>
  <cp:lastModifiedBy>Compte Microsoft</cp:lastModifiedBy>
  <cp:revision>5</cp:revision>
  <dcterms:created xsi:type="dcterms:W3CDTF">2006-08-16T00:00:00Z</dcterms:created>
  <dcterms:modified xsi:type="dcterms:W3CDTF">2025-09-19T10:59:18Z</dcterms:modified>
  <dc:identifier>DAGzXh5WpJo</dc:identifier>
</cp:coreProperties>
</file>